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63" r:id="rId4"/>
    <p:sldId id="265" r:id="rId5"/>
    <p:sldId id="266" r:id="rId6"/>
    <p:sldId id="267" r:id="rId7"/>
    <p:sldId id="268" r:id="rId8"/>
    <p:sldId id="258" r:id="rId9"/>
    <p:sldId id="259" r:id="rId10"/>
    <p:sldId id="261" r:id="rId11"/>
    <p:sldId id="262" r:id="rId12"/>
    <p:sldId id="270" r:id="rId13"/>
    <p:sldId id="271" r:id="rId14"/>
    <p:sldId id="264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5FCCC-06CF-4428-8A34-AC15BBBD795A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A34-595A-4900-80F1-ED69D19B8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56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A982D-E338-4082-95EB-ABA7EFE8AC0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723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498E4-B9B4-215B-B115-66882B85F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D3FAA-B606-16B7-4BAC-C8D431E3E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C49D-205C-36E9-0C2C-A38485D1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A43BB-F959-3C09-B74C-A2ACC803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A2B8D-122D-D590-9560-930B3FEF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01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2544-C000-21B2-52B8-08DDB0FDD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03F00-FB82-3E47-D96B-1EF299AF3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AD48C-8949-9DBF-BC77-C0FBB2A8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97F6B-4373-9C53-89DD-33962676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2C998-BB45-009E-A65C-2FD5C78E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43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46EA-BBEA-8B7C-56E6-5F709950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FA0A3-28C9-FAFB-567E-417B0C90B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86CBE-A09A-AEB1-6FD0-C92F33E6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82498-A06D-9067-E351-3547747B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89723-B71E-2917-698D-AF54D6F0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01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FB39-8610-82DC-EBC9-C8B09806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92C54-C0F8-546D-D90F-1921FD58B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DEC7D-600D-B866-F72E-0C958D51E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9D055-3EB1-4A43-E803-554A86A9D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DD90E-C32D-18F2-2183-05EB6FE2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39E29-FB73-47BE-09A0-85BBD4CDB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11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7AB5-D66D-3F53-A195-DD04420DA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BAEDC-7804-C210-8681-BE4F44D53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6F804-6FE1-0C84-FCEB-4DF334E0E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ED65F-452C-6ABE-73E8-72FB2E3CD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7A2B4-F335-7A33-922C-928C78B5C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0D5AE-9FBE-8ACE-336C-70E10FDA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4A6E9-1F14-2A16-9D07-790DDB03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175B1-5B68-32C7-E24C-64B08C26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33F9-5E81-C148-BD93-8DB8EAC6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C5B5D9-BABB-1D53-137F-169D30DF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2EAFF-93C5-CD0E-65B1-44E8F394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53040-6D9A-1EF2-081A-62BBFCC1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41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9958D-B30D-D65D-761E-F4C86A08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787B1-E9A1-EB1A-20B8-DA013A21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A99CC-B115-41FD-F2BC-36C1E6B7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60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ACB8-701F-6826-E98E-CFA7180C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04945-4A1E-A668-32EF-2B3A67925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DD888-59B2-7A5C-AFA5-CE66E3684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5E4C7-886D-8464-1D8C-380C1A43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13F2C-C805-1B56-B4E1-E169C74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A4D21-137D-F291-4BB1-46366B7C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498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15FE-3B27-B763-A8C2-B84F12C2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3C39A-3343-62CE-ACF4-6CE7E31BF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1E0D2-354E-C84B-54C4-67FAACEC3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4F6A2-9908-4FDE-F176-B4437BFB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1810C-1319-9E47-4DD6-F08A408E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CB8B3-FAF0-1F99-8CF0-FB79BA29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522A-D1FD-8546-19F9-3DB813D3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6D029-E19D-5597-331B-7CC757C02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C2C45-D739-5C37-1E08-D473F852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65F1-94D7-986B-4B25-6F71F05A4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43718-3111-5880-B06D-CB2C6FD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013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EAB955-7600-948A-C58E-804DC0761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81383-CE6C-F99D-EC5F-EFCA83DC5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2F01D-2ECE-870B-AC6C-EBF1E601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2A49A-4195-D852-5C3E-1C86AE29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9EA9-4B1B-CC23-2DED-FE78990E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09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7FAD8-83C3-E8E7-23EF-7A375D0F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6C087-2C32-5A2D-F679-B48A83190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00DAE-70C5-6538-EF7C-2F59ED9A7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C3AE-C5F2-460E-9E3C-8D664CE0EBB3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9203C-A5CF-E96B-8E95-DFCC76486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A242D-69AA-C60A-2BFD-0391C4BAB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D2F85-61C8-49D5-90D3-C74AD103D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7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78B1-F65D-4937-78D5-E23E50879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481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and Expression Analysis using YOLO11 Architecture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A8C0B-CD77-A59D-7116-55CE491B6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329" y="4203055"/>
            <a:ext cx="6017342" cy="1655762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Varsha Pattanshetty, Varda Pattanshetty,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Mythri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Kurgod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Amruta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Herur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Uday Kulkarni and Shashank Hegde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96C59-F208-7FFF-821B-7809183C6F33}"/>
              </a:ext>
            </a:extLst>
          </p:cNvPr>
          <p:cNvSpPr txBox="1"/>
          <p:nvPr/>
        </p:nvSpPr>
        <p:spPr>
          <a:xfrm>
            <a:off x="5031830" y="891530"/>
            <a:ext cx="2128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1004</a:t>
            </a:r>
          </a:p>
        </p:txBody>
      </p:sp>
    </p:spTree>
    <p:extLst>
      <p:ext uri="{BB962C8B-B14F-4D97-AF65-F5344CB8AC3E}">
        <p14:creationId xmlns:p14="http://schemas.microsoft.com/office/powerpoint/2010/main" val="16225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C0C03-6FF9-B3FF-093E-5CF6B06B6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106"/>
            <a:ext cx="10610088" cy="5001769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Facial Expression Recognition? </a:t>
            </a:r>
          </a:p>
          <a:p>
            <a:pPr lvl="1" algn="just">
              <a:lnSpc>
                <a:spcPct val="12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 Recognition (FER)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involves detecting and classifying human emotions from facial images.</a:t>
            </a:r>
          </a:p>
          <a:p>
            <a:pPr lvl="1" algn="just">
              <a:lnSpc>
                <a:spcPct val="120000"/>
              </a:lnSpc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human-computer interaction, security, and affective computing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applications like 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emotion-aware AI, surveillance, healthcare, and entertainment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Challenging?</a:t>
            </a:r>
          </a:p>
          <a:p>
            <a:pPr lvl="1" algn="just">
              <a:lnSpc>
                <a:spcPct val="12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preservation: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 emotions are detected while maintaining facial identity.</a:t>
            </a:r>
          </a:p>
          <a:p>
            <a:pPr lvl="1" algn="just">
              <a:lnSpc>
                <a:spcPct val="12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and expression variations: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different angles and facial deformations.</a:t>
            </a:r>
          </a:p>
          <a:p>
            <a:pPr lvl="1" algn="just">
              <a:lnSpc>
                <a:spcPct val="12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and occlusions: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Addressing real-world variations like shadows and objects blocking the face.</a:t>
            </a:r>
          </a:p>
          <a:p>
            <a:pPr lvl="1" algn="just">
              <a:lnSpc>
                <a:spcPct val="120000"/>
              </a:lnSpc>
            </a:pP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efficiency: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Balancing speed and accuracy for real-time applications.</a:t>
            </a:r>
          </a:p>
          <a:p>
            <a:pPr algn="just">
              <a:lnSpc>
                <a:spcPct val="12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2D6A937-D69B-7C75-5FDF-181D4EF4E7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213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BA25483-E2CD-B61B-AB85-C85DAC162467}"/>
              </a:ext>
            </a:extLst>
          </p:cNvPr>
          <p:cNvGrpSpPr/>
          <p:nvPr/>
        </p:nvGrpSpPr>
        <p:grpSpPr>
          <a:xfrm>
            <a:off x="1748028" y="2622089"/>
            <a:ext cx="2110744" cy="2734056"/>
            <a:chOff x="1135380" y="2404872"/>
            <a:chExt cx="2110744" cy="27340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4C4E54A-3438-166E-5F04-3C465BE39572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detect faces and analyze expressions in real-time with minimal latency.</a:t>
              </a:r>
            </a:p>
            <a:p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D6F25D5-7F00-7B27-1682-BCEB0DC41778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A4D35A-34D9-A482-EB3D-757BCD85BE8F}"/>
              </a:ext>
            </a:extLst>
          </p:cNvPr>
          <p:cNvGrpSpPr/>
          <p:nvPr/>
        </p:nvGrpSpPr>
        <p:grpSpPr>
          <a:xfrm>
            <a:off x="3982974" y="2615184"/>
            <a:ext cx="2110744" cy="2734056"/>
            <a:chOff x="1135380" y="2404872"/>
            <a:chExt cx="2110744" cy="273405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78395F2-BCA8-E845-3418-B3E141344E4A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achieve high accuracy in face recognition and expression classification.</a:t>
              </a:r>
            </a:p>
            <a:p>
              <a:pPr algn="ctr"/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E187D57-A0C7-6595-21C5-22902B1CB4ED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7F70C4D-77C6-5EBC-169F-DD2497153CD3}"/>
              </a:ext>
            </a:extLst>
          </p:cNvPr>
          <p:cNvGrpSpPr/>
          <p:nvPr/>
        </p:nvGrpSpPr>
        <p:grpSpPr>
          <a:xfrm>
            <a:off x="6217920" y="2615184"/>
            <a:ext cx="2110744" cy="2734056"/>
            <a:chOff x="1135380" y="2404872"/>
            <a:chExt cx="2110744" cy="273405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8E257F2-0AC2-94C2-518A-2115D8DCA402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ensure robustness across varying lighting, occlusions, and facial orientations.</a:t>
              </a:r>
            </a:p>
            <a:p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101BD37-AFE0-BCCB-084E-BED955F7341B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C454D13-39C4-0E85-CCC5-75B828E2A56A}"/>
              </a:ext>
            </a:extLst>
          </p:cNvPr>
          <p:cNvGrpSpPr/>
          <p:nvPr/>
        </p:nvGrpSpPr>
        <p:grpSpPr>
          <a:xfrm>
            <a:off x="8452866" y="2615184"/>
            <a:ext cx="2110744" cy="2734056"/>
            <a:chOff x="1135380" y="2404872"/>
            <a:chExt cx="2110744" cy="273405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C8892C2-B7A3-19B9-94C5-A389BDE58B3D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design a scalable system for applications like surveillance and emotion analysis.</a:t>
              </a:r>
              <a:endParaRPr lang="en-IN" sz="2000" b="1" dirty="0"/>
            </a:p>
            <a:p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E55FF3B-4F5A-655F-4B5F-C332BC849BB6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44507A80-EECA-4EAC-8E79-0593965899C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381642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0AE8-EAD8-87DE-52E6-CDD0B148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C9023ED-3B87-9BA6-0015-C8C8BF43A6BA}"/>
              </a:ext>
            </a:extLst>
          </p:cNvPr>
          <p:cNvGrpSpPr/>
          <p:nvPr/>
        </p:nvGrpSpPr>
        <p:grpSpPr>
          <a:xfrm>
            <a:off x="1505710" y="2411776"/>
            <a:ext cx="2636526" cy="3230072"/>
            <a:chOff x="1135380" y="2404872"/>
            <a:chExt cx="2110744" cy="27340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A60383E-1B5F-E524-116C-CEF565BC27BA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detect faces and analyze expressions in real-time with minimal latency.</a:t>
              </a:r>
            </a:p>
            <a:p>
              <a:endParaRPr lang="en-IN" sz="240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E287506-C8CD-320A-3D5D-92947B1072D9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5DE2611-2AFC-5118-9B41-205D9D3B2A09}"/>
              </a:ext>
            </a:extLst>
          </p:cNvPr>
          <p:cNvGrpSpPr/>
          <p:nvPr/>
        </p:nvGrpSpPr>
        <p:grpSpPr>
          <a:xfrm>
            <a:off x="4266438" y="2622089"/>
            <a:ext cx="2110744" cy="2734056"/>
            <a:chOff x="1135380" y="2404872"/>
            <a:chExt cx="2110744" cy="273405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926014E-A786-A5BA-68D9-3DB95A187038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8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achieve high accuracy in face recognition and expression classification.</a:t>
              </a:r>
            </a:p>
            <a:p>
              <a:pPr algn="ctr"/>
              <a:endParaRPr lang="en-IN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D9E1D25-98B8-7329-7397-9879C4EA7D8E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05045D9-0C08-67FC-6FA2-57B23E3929A9}"/>
              </a:ext>
            </a:extLst>
          </p:cNvPr>
          <p:cNvGrpSpPr/>
          <p:nvPr/>
        </p:nvGrpSpPr>
        <p:grpSpPr>
          <a:xfrm>
            <a:off x="6501384" y="2622089"/>
            <a:ext cx="2110744" cy="2734056"/>
            <a:chOff x="1135380" y="2404872"/>
            <a:chExt cx="2110744" cy="273405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13909FE-91CD-639C-C7B3-494DEB90F858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ensure robustness across varying lighting, occlusions, and facial orientations.</a:t>
              </a:r>
            </a:p>
            <a:p>
              <a:endParaRPr lang="en-IN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3D34719-35F0-4FA9-9C0A-BE701F09EA88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6D07C1-B14F-6192-9105-1E87DB1C9E92}"/>
              </a:ext>
            </a:extLst>
          </p:cNvPr>
          <p:cNvGrpSpPr/>
          <p:nvPr/>
        </p:nvGrpSpPr>
        <p:grpSpPr>
          <a:xfrm>
            <a:off x="8736330" y="2622089"/>
            <a:ext cx="2110744" cy="2734056"/>
            <a:chOff x="1135380" y="2404872"/>
            <a:chExt cx="2110744" cy="273405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46F2976-59CF-9424-2AB5-BA08678C5C15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design a scalable system for applications like surveillance and emotion analysis.</a:t>
              </a:r>
              <a:endParaRPr lang="en-IN" sz="2000" b="1" dirty="0"/>
            </a:p>
            <a:p>
              <a:endParaRPr lang="en-IN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915FB60-6703-69C9-90B7-73EE7ECB2805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720EC119-7D95-3F88-8A3B-9F72C7774A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764857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84C-3027-939B-95E8-7111A512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C4C0103-6EA6-B816-4820-AF24F486B0E9}"/>
              </a:ext>
            </a:extLst>
          </p:cNvPr>
          <p:cNvGrpSpPr/>
          <p:nvPr/>
        </p:nvGrpSpPr>
        <p:grpSpPr>
          <a:xfrm>
            <a:off x="1098804" y="2615184"/>
            <a:ext cx="2110744" cy="2734056"/>
            <a:chOff x="1135380" y="2397967"/>
            <a:chExt cx="2110744" cy="27340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349A03F-9D29-F74F-6FB8-A1A3B39B4561}"/>
                </a:ext>
              </a:extLst>
            </p:cNvPr>
            <p:cNvSpPr/>
            <p:nvPr/>
          </p:nvSpPr>
          <p:spPr>
            <a:xfrm>
              <a:off x="1135380" y="2397967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detect faces and analyze expressions in real-time with minimal latency.</a:t>
              </a:r>
            </a:p>
            <a:p>
              <a:endParaRPr lang="en-IN" sz="200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819D6FB-C182-DD97-8553-7EC3C8578149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D10FC58-1590-F01D-1EE7-F536A149B4B4}"/>
              </a:ext>
            </a:extLst>
          </p:cNvPr>
          <p:cNvGrpSpPr/>
          <p:nvPr/>
        </p:nvGrpSpPr>
        <p:grpSpPr>
          <a:xfrm>
            <a:off x="3455671" y="2322576"/>
            <a:ext cx="2797309" cy="3291840"/>
            <a:chOff x="1135380" y="2404872"/>
            <a:chExt cx="2110744" cy="273405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D1A0ADD-EEFF-85F4-0744-16E467733480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4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achieve high accuracy in face recognition and expression classification.</a:t>
              </a:r>
            </a:p>
            <a:p>
              <a:pPr algn="ctr"/>
              <a:endParaRPr lang="en-IN" sz="2400" dirty="0"/>
            </a:p>
            <a:p>
              <a:pPr algn="ctr"/>
              <a:endParaRPr lang="en-IN" sz="240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9379E48-14E8-BB6F-0F14-4779AB8EDB28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3C30350-12F2-2816-D6A8-5A00C2F08187}"/>
              </a:ext>
            </a:extLst>
          </p:cNvPr>
          <p:cNvGrpSpPr/>
          <p:nvPr/>
        </p:nvGrpSpPr>
        <p:grpSpPr>
          <a:xfrm>
            <a:off x="6501384" y="2615184"/>
            <a:ext cx="2110744" cy="2734056"/>
            <a:chOff x="1135380" y="2404872"/>
            <a:chExt cx="2110744" cy="273405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891EB5D-5CBD-DC84-5AD6-FE565B232C94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ensure robustness across varying lighting, occlusions, and facial orientations.</a:t>
              </a:r>
            </a:p>
            <a:p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2260F05-666B-96C1-2E11-97128FCF1C20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500C2B-2885-4580-B56B-1E6089387548}"/>
              </a:ext>
            </a:extLst>
          </p:cNvPr>
          <p:cNvGrpSpPr/>
          <p:nvPr/>
        </p:nvGrpSpPr>
        <p:grpSpPr>
          <a:xfrm>
            <a:off x="8736330" y="2615184"/>
            <a:ext cx="2110744" cy="2734056"/>
            <a:chOff x="1135380" y="2404872"/>
            <a:chExt cx="2110744" cy="273405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63FD8E0-7F3B-B3FE-301E-C1989EC68AE2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design a scalable system for applications like surveillance and emotion analysis.</a:t>
              </a:r>
              <a:endParaRPr lang="en-IN" sz="2000" b="1" dirty="0"/>
            </a:p>
            <a:p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435757E-B418-A6C0-D305-1D8257C82958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13D95282-95D8-ECBD-AFF2-9A323A4DC1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215209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A2E9-6800-7599-F832-3F113EBFE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DCD2AB8-7152-DED4-BA22-45DF06A98523}"/>
              </a:ext>
            </a:extLst>
          </p:cNvPr>
          <p:cNvGrpSpPr/>
          <p:nvPr/>
        </p:nvGrpSpPr>
        <p:grpSpPr>
          <a:xfrm>
            <a:off x="1299972" y="2628994"/>
            <a:ext cx="2110744" cy="2734056"/>
            <a:chOff x="1135380" y="2404872"/>
            <a:chExt cx="2110744" cy="27340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5E1D5A9-826F-2F9F-E9D1-6DE7CAE99D54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detect faces and analyze expressions in real-time with minimal latency.</a:t>
              </a:r>
            </a:p>
            <a:p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3BF1233-1BBB-9B80-2264-26C1BDAE5501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634073D-C127-6A1B-A446-6FCC9FCC8A92}"/>
              </a:ext>
            </a:extLst>
          </p:cNvPr>
          <p:cNvGrpSpPr/>
          <p:nvPr/>
        </p:nvGrpSpPr>
        <p:grpSpPr>
          <a:xfrm>
            <a:off x="3534918" y="2622089"/>
            <a:ext cx="2110744" cy="2734056"/>
            <a:chOff x="1135380" y="2404872"/>
            <a:chExt cx="2110744" cy="273405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C703CBF-BCD5-F28D-4AFA-05F2D3549055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8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8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achieve high accuracy in face recognition and expression classification.</a:t>
              </a:r>
            </a:p>
            <a:p>
              <a:pPr algn="ctr"/>
              <a:endParaRPr lang="en-IN" sz="2000" dirty="0"/>
            </a:p>
            <a:p>
              <a:pPr algn="ctr"/>
              <a:endParaRPr lang="en-IN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B151021-203B-AF16-1CEC-E397FCC73C55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6F92BBD-2A8C-921F-64DC-4DC319737963}"/>
              </a:ext>
            </a:extLst>
          </p:cNvPr>
          <p:cNvGrpSpPr/>
          <p:nvPr/>
        </p:nvGrpSpPr>
        <p:grpSpPr>
          <a:xfrm>
            <a:off x="5895973" y="2283761"/>
            <a:ext cx="2743200" cy="3410712"/>
            <a:chOff x="1135380" y="2404872"/>
            <a:chExt cx="2110744" cy="273405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292D5EA-0E3B-A1CD-5A86-7EB1EFEB6281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4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4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ensure robustness across varying lighting, occlusions, and facial orientations.</a:t>
              </a:r>
            </a:p>
            <a:p>
              <a:endParaRPr lang="en-IN" sz="2400" dirty="0"/>
            </a:p>
            <a:p>
              <a:pPr algn="ctr"/>
              <a:endParaRPr lang="en-IN" sz="2400" dirty="0"/>
            </a:p>
            <a:p>
              <a:pPr algn="ctr"/>
              <a:endParaRPr lang="en-IN" sz="240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373CCEE-EA38-04D4-E562-CA14149992DC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C1BE439-1A7B-F357-EB84-6783AAF60701}"/>
              </a:ext>
            </a:extLst>
          </p:cNvPr>
          <p:cNvGrpSpPr/>
          <p:nvPr/>
        </p:nvGrpSpPr>
        <p:grpSpPr>
          <a:xfrm>
            <a:off x="8889484" y="2622089"/>
            <a:ext cx="2110744" cy="2734056"/>
            <a:chOff x="1135380" y="2404872"/>
            <a:chExt cx="2110744" cy="273405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82C8165-03AB-C75F-17DA-28067870CA76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design a scalable system for applications like surveillance and emotion analysis.</a:t>
              </a:r>
              <a:endParaRPr lang="en-IN" sz="2000" b="1" dirty="0"/>
            </a:p>
            <a:p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52A6274-8C86-1ADD-0A8E-CFAD34FEAD83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683B8968-F39E-04F5-EE29-42AFB12C108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501715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881A-245A-3EF9-1054-EB8FFC12A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F8EF8B0-F88A-EF75-B838-97C319FAD997}"/>
              </a:ext>
            </a:extLst>
          </p:cNvPr>
          <p:cNvGrpSpPr/>
          <p:nvPr/>
        </p:nvGrpSpPr>
        <p:grpSpPr>
          <a:xfrm>
            <a:off x="1327404" y="2622089"/>
            <a:ext cx="2110744" cy="2734056"/>
            <a:chOff x="1135380" y="2404872"/>
            <a:chExt cx="2110744" cy="27340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270F22-D772-2D6C-EEA2-A249BE1CE713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detect faces and analyze expressions in real-time with minimal latency.</a:t>
              </a:r>
            </a:p>
            <a:p>
              <a:endParaRPr lang="en-IN" sz="2000" dirty="0"/>
            </a:p>
            <a:p>
              <a:pPr algn="ctr"/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6D3A705-B5F2-E1D4-F48A-6B6760E7EE86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4418C37-EB96-1B34-903A-FD9FE94346D5}"/>
              </a:ext>
            </a:extLst>
          </p:cNvPr>
          <p:cNvGrpSpPr/>
          <p:nvPr/>
        </p:nvGrpSpPr>
        <p:grpSpPr>
          <a:xfrm>
            <a:off x="3562350" y="2615184"/>
            <a:ext cx="2110744" cy="2734056"/>
            <a:chOff x="1135380" y="2404872"/>
            <a:chExt cx="2110744" cy="273405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4826A02-64FC-5CD5-2634-44C15DC266E3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achieve high accuracy in face recognition and expression classification.</a:t>
              </a:r>
            </a:p>
            <a:p>
              <a:pPr algn="ctr"/>
              <a:endParaRPr lang="en-IN" sz="2000" dirty="0"/>
            </a:p>
            <a:p>
              <a:pPr algn="ctr"/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F390C03-B62C-7642-D05E-4A2449214C09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C3697DB-6FA0-7398-7AFA-D16CF7887215}"/>
              </a:ext>
            </a:extLst>
          </p:cNvPr>
          <p:cNvGrpSpPr/>
          <p:nvPr/>
        </p:nvGrpSpPr>
        <p:grpSpPr>
          <a:xfrm>
            <a:off x="5797296" y="2615184"/>
            <a:ext cx="2110744" cy="2734056"/>
            <a:chOff x="1135380" y="2404872"/>
            <a:chExt cx="2110744" cy="273405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A6B7091-61E4-BCEC-1904-2C9919EF4776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ensure robustness across varying lighting, occlusions, and facial orientations.</a:t>
              </a:r>
            </a:p>
            <a:p>
              <a:endParaRPr lang="en-IN" sz="2000" dirty="0"/>
            </a:p>
            <a:p>
              <a:pPr algn="ctr"/>
              <a:endParaRPr lang="en-IN" sz="2000" dirty="0"/>
            </a:p>
            <a:p>
              <a:pPr algn="ctr"/>
              <a:endParaRPr lang="en-IN" sz="2000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3A92BD9-795B-515A-B5D2-0E5A206FA95D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E30EFAA-EA26-B3B7-F568-DE08F14F8A1C}"/>
              </a:ext>
            </a:extLst>
          </p:cNvPr>
          <p:cNvGrpSpPr/>
          <p:nvPr/>
        </p:nvGrpSpPr>
        <p:grpSpPr>
          <a:xfrm>
            <a:off x="8032242" y="2375201"/>
            <a:ext cx="2628896" cy="3227832"/>
            <a:chOff x="1135380" y="2404872"/>
            <a:chExt cx="2110744" cy="273405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92E0208-CC94-5E4C-3BCB-6479D199CD32}"/>
                </a:ext>
              </a:extLst>
            </p:cNvPr>
            <p:cNvSpPr/>
            <p:nvPr/>
          </p:nvSpPr>
          <p:spPr>
            <a:xfrm>
              <a:off x="1135380" y="2404872"/>
              <a:ext cx="2110744" cy="273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4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4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400" b="1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b="1" i="0" dirty="0">
                  <a:solidFill>
                    <a:srgbClr val="21212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design a scalable system for applications like surveillance and emotion analysis.</a:t>
              </a:r>
              <a:endParaRPr lang="en-IN" sz="2400" b="1" dirty="0"/>
            </a:p>
            <a:p>
              <a:endParaRPr lang="en-IN" sz="2400" dirty="0"/>
            </a:p>
            <a:p>
              <a:pPr algn="ctr"/>
              <a:endParaRPr lang="en-IN" sz="2400" dirty="0"/>
            </a:p>
            <a:p>
              <a:pPr algn="ctr"/>
              <a:endParaRPr lang="en-IN" sz="240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1F816E3-853D-B4B3-21CE-0AE7EA022859}"/>
                </a:ext>
              </a:extLst>
            </p:cNvPr>
            <p:cNvSpPr/>
            <p:nvPr/>
          </p:nvSpPr>
          <p:spPr>
            <a:xfrm>
              <a:off x="1135380" y="2411777"/>
              <a:ext cx="483108" cy="594360"/>
            </a:xfrm>
            <a:custGeom>
              <a:avLst/>
              <a:gdLst>
                <a:gd name="connsiteX0" fmla="*/ 0 w 443973"/>
                <a:gd name="connsiteY0" fmla="*/ 0 h 887946"/>
                <a:gd name="connsiteX1" fmla="*/ 443973 w 443973"/>
                <a:gd name="connsiteY1" fmla="*/ 443973 h 887946"/>
                <a:gd name="connsiteX2" fmla="*/ 0 w 443973"/>
                <a:gd name="connsiteY2" fmla="*/ 887946 h 88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73" h="887946">
                  <a:moveTo>
                    <a:pt x="0" y="0"/>
                  </a:moveTo>
                  <a:lnTo>
                    <a:pt x="443973" y="443973"/>
                  </a:lnTo>
                  <a:lnTo>
                    <a:pt x="0" y="88794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IN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61EED9A5-9A19-D657-D132-55AEBCB9AFB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5845666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1417D7-612C-5679-08D7-B9FAE916F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87" y="1157507"/>
            <a:ext cx="8082778" cy="55811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E4BC28-7375-876F-8D9D-61D08630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01" y="119319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YOLO11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27526-C445-4179-58E5-8E15657D494F}"/>
              </a:ext>
            </a:extLst>
          </p:cNvPr>
          <p:cNvSpPr/>
          <p:nvPr/>
        </p:nvSpPr>
        <p:spPr>
          <a:xfrm>
            <a:off x="1858297" y="2300748"/>
            <a:ext cx="993058" cy="431636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E68D89-1497-0185-AC9C-926447BFF025}"/>
              </a:ext>
            </a:extLst>
          </p:cNvPr>
          <p:cNvSpPr/>
          <p:nvPr/>
        </p:nvSpPr>
        <p:spPr>
          <a:xfrm>
            <a:off x="3785419" y="2625213"/>
            <a:ext cx="3903407" cy="386407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2F790A-8637-AFAF-2F33-D27BA2B19A16}"/>
              </a:ext>
            </a:extLst>
          </p:cNvPr>
          <p:cNvSpPr/>
          <p:nvPr/>
        </p:nvSpPr>
        <p:spPr>
          <a:xfrm>
            <a:off x="8504903" y="3429000"/>
            <a:ext cx="1012723" cy="1978742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FF8AF-9411-F802-9887-EAC10A5B2E65}"/>
              </a:ext>
            </a:extLst>
          </p:cNvPr>
          <p:cNvSpPr txBox="1"/>
          <p:nvPr/>
        </p:nvSpPr>
        <p:spPr>
          <a:xfrm>
            <a:off x="3716593" y="2220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1B390-382D-4A50-6D15-005ECE169C7B}"/>
              </a:ext>
            </a:extLst>
          </p:cNvPr>
          <p:cNvSpPr txBox="1"/>
          <p:nvPr/>
        </p:nvSpPr>
        <p:spPr>
          <a:xfrm>
            <a:off x="8622890" y="299883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E55ED-451C-2456-079C-B954116DD83F}"/>
              </a:ext>
            </a:extLst>
          </p:cNvPr>
          <p:cNvSpPr txBox="1"/>
          <p:nvPr/>
        </p:nvSpPr>
        <p:spPr>
          <a:xfrm>
            <a:off x="590001" y="2236886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592330-3DD4-037D-9EED-3E5543851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723" y="2267738"/>
            <a:ext cx="993058" cy="43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91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FB900A-2B3B-9C35-D6A6-195933AE79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810" y="1972047"/>
            <a:ext cx="6016190" cy="4154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407CE7-0318-ECF5-D82D-376C0DA80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242" y="2805003"/>
            <a:ext cx="739155" cy="32273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E2EE01-DBF3-598A-3317-BF9EB6C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11259-041A-66DB-5B5C-F5CB713DF53A}"/>
              </a:ext>
            </a:extLst>
          </p:cNvPr>
          <p:cNvSpPr txBox="1"/>
          <p:nvPr/>
        </p:nvSpPr>
        <p:spPr>
          <a:xfrm>
            <a:off x="748002" y="2232640"/>
            <a:ext cx="550552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Feature Extraction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Begins with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Block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convolution, batch normalization,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enhancing smooth gradients and feature learning.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 Block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connection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preventing vanishing gradients and capturing subtle micro-expressions.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C2F Block (Cross-Stage Partial Focus):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Splits feature maps into two paths for efficient processing.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C3K2 Block: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smaller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3×3 kernels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local and global feature extraction.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D4823-24CC-1AB8-847E-D0A2CEC0C887}"/>
              </a:ext>
            </a:extLst>
          </p:cNvPr>
          <p:cNvSpPr txBox="1"/>
          <p:nvPr/>
        </p:nvSpPr>
        <p:spPr>
          <a:xfrm>
            <a:off x="838200" y="1632142"/>
            <a:ext cx="5493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 – Efficient Feature Extraction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340B57-3E4A-3BE3-1FD9-E583B41E33BC}"/>
              </a:ext>
            </a:extLst>
          </p:cNvPr>
          <p:cNvSpPr/>
          <p:nvPr/>
        </p:nvSpPr>
        <p:spPr>
          <a:xfrm>
            <a:off x="6367952" y="2819637"/>
            <a:ext cx="719977" cy="32127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304B3-19D4-CE6E-B64A-7F4E7D94635D}"/>
              </a:ext>
            </a:extLst>
          </p:cNvPr>
          <p:cNvSpPr txBox="1"/>
          <p:nvPr/>
        </p:nvSpPr>
        <p:spPr>
          <a:xfrm>
            <a:off x="7055982" y="2711166"/>
            <a:ext cx="1710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</a:p>
        </p:txBody>
      </p:sp>
    </p:spTree>
    <p:extLst>
      <p:ext uri="{BB962C8B-B14F-4D97-AF65-F5344CB8AC3E}">
        <p14:creationId xmlns:p14="http://schemas.microsoft.com/office/powerpoint/2010/main" val="3081442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EFE0-E0D6-7753-C295-78C89A427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174906-5440-8025-2E99-48CD17668D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973" y="1784575"/>
            <a:ext cx="6054853" cy="4180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07E71E-4A67-DFD8-CEBE-5F1C33EC1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243" y="2870839"/>
            <a:ext cx="2924064" cy="28872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1711CE-A50A-0C1C-3C71-8DFB62558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E5987-1444-FBE4-89D6-602AF72B602C}"/>
              </a:ext>
            </a:extLst>
          </p:cNvPr>
          <p:cNvSpPr txBox="1"/>
          <p:nvPr/>
        </p:nvSpPr>
        <p:spPr>
          <a:xfrm>
            <a:off x="838200" y="2223496"/>
            <a:ext cx="51478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SPPF Module for Spatial Information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features across multiple scales, improving detection of both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and large facial expressions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 – Focusing on Key Features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C2PSA Block: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attention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the model focus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facial regions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eyes and mouth.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Refines feature maps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enhancing accuracy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occlusion and low-light conditions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D1C9C-3F06-40E7-585C-32C21D222ABB}"/>
              </a:ext>
            </a:extLst>
          </p:cNvPr>
          <p:cNvSpPr txBox="1"/>
          <p:nvPr/>
        </p:nvSpPr>
        <p:spPr>
          <a:xfrm>
            <a:off x="838200" y="1626335"/>
            <a:ext cx="5452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Neck – Multi-Scale Feature Aggregation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44BAB-8D77-7393-038D-57A7897217AD}"/>
              </a:ext>
            </a:extLst>
          </p:cNvPr>
          <p:cNvSpPr/>
          <p:nvPr/>
        </p:nvSpPr>
        <p:spPr>
          <a:xfrm>
            <a:off x="7840243" y="2874923"/>
            <a:ext cx="2924064" cy="288723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92534-D6BE-72FF-2D7D-EFC7DA1DCAA1}"/>
              </a:ext>
            </a:extLst>
          </p:cNvPr>
          <p:cNvSpPr txBox="1"/>
          <p:nvPr/>
        </p:nvSpPr>
        <p:spPr>
          <a:xfrm>
            <a:off x="7756160" y="2446490"/>
            <a:ext cx="1771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Neck</a:t>
            </a:r>
          </a:p>
        </p:txBody>
      </p:sp>
    </p:spTree>
    <p:extLst>
      <p:ext uri="{BB962C8B-B14F-4D97-AF65-F5344CB8AC3E}">
        <p14:creationId xmlns:p14="http://schemas.microsoft.com/office/powerpoint/2010/main" val="1433921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8AB6B-2227-1B1D-BF5A-FAA24127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F634F2-9308-D351-E3D0-C3E9AADB10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487" y="2166055"/>
            <a:ext cx="5501557" cy="3798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B5D5E-9B37-673F-EB67-C602799DF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474" y="3607436"/>
            <a:ext cx="761222" cy="1466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8D83BA-3F05-6275-9118-27FB323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FC02F-B7CB-6623-E886-A8D71D03A326}"/>
              </a:ext>
            </a:extLst>
          </p:cNvPr>
          <p:cNvSpPr txBox="1"/>
          <p:nvPr/>
        </p:nvSpPr>
        <p:spPr>
          <a:xfrm>
            <a:off x="838200" y="2223496"/>
            <a:ext cx="536143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Detection Across Multiple Scales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Outputs predictions at </a:t>
            </a:r>
            <a:r>
              <a:rPr lang="en-US" sz="2000" b="1" dirty="0"/>
              <a:t>three levels (P3, P4, P5)</a:t>
            </a:r>
            <a:r>
              <a:rPr lang="en-US" sz="2000" dirty="0"/>
              <a:t> to detect objects of varying sizes.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Bounding box regression</a:t>
            </a:r>
            <a:r>
              <a:rPr lang="en-US" sz="2000" dirty="0"/>
              <a:t> ensures precise localization of facial features.</a:t>
            </a:r>
          </a:p>
          <a:p>
            <a:pPr algn="just"/>
            <a:r>
              <a:rPr lang="en-US" sz="2000" b="1" dirty="0"/>
              <a:t>Emotion Classification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Uses a </a:t>
            </a:r>
            <a:r>
              <a:rPr lang="en-US" sz="2000" b="1" dirty="0" err="1"/>
              <a:t>softmax</a:t>
            </a:r>
            <a:r>
              <a:rPr lang="en-US" sz="2000" b="1" dirty="0"/>
              <a:t> activation function</a:t>
            </a:r>
            <a:r>
              <a:rPr lang="en-US" sz="2000" dirty="0"/>
              <a:t> to classify emotions effectively.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model’s </a:t>
            </a:r>
            <a:r>
              <a:rPr lang="en-US" sz="2000" b="1" dirty="0"/>
              <a:t>optimized design</a:t>
            </a:r>
            <a:r>
              <a:rPr lang="en-US" sz="2000" dirty="0"/>
              <a:t> improves performance in </a:t>
            </a:r>
            <a:r>
              <a:rPr lang="en-US" sz="2000" b="1" dirty="0"/>
              <a:t>facial emotion recognition (FER) tasks</a:t>
            </a:r>
            <a:r>
              <a:rPr lang="en-US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B93DF-2C14-BAD7-0A7D-5DC96B041E50}"/>
              </a:ext>
            </a:extLst>
          </p:cNvPr>
          <p:cNvSpPr txBox="1"/>
          <p:nvPr/>
        </p:nvSpPr>
        <p:spPr>
          <a:xfrm>
            <a:off x="759542" y="1664601"/>
            <a:ext cx="6458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– Multi-Scale Predictions &amp;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98C46-C774-8DE3-A3C9-84D1AC1FED87}"/>
              </a:ext>
            </a:extLst>
          </p:cNvPr>
          <p:cNvSpPr txBox="1"/>
          <p:nvPr/>
        </p:nvSpPr>
        <p:spPr>
          <a:xfrm>
            <a:off x="10972700" y="3207326"/>
            <a:ext cx="15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29FB-4937-D659-3542-B4FFB0F92C32}"/>
              </a:ext>
            </a:extLst>
          </p:cNvPr>
          <p:cNvSpPr/>
          <p:nvPr/>
        </p:nvSpPr>
        <p:spPr>
          <a:xfrm>
            <a:off x="11051474" y="3622824"/>
            <a:ext cx="761222" cy="1466009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768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1D8B-6353-545C-81BB-6A5BC657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155" y="197207"/>
            <a:ext cx="10515600" cy="132556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Description</a:t>
            </a:r>
            <a:endParaRPr lang="en-IN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017FDD1F-8958-B42F-53B6-CB0775DE4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03" y="1879014"/>
            <a:ext cx="6008916" cy="37882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F057C-0315-5186-D350-A9EFB416A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620" y="1729248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71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63C6-69B6-F931-D4D8-13239DE6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3" y="36921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EA253-9F99-8786-DFD1-0768E7E9F753}"/>
              </a:ext>
            </a:extLst>
          </p:cNvPr>
          <p:cNvSpPr txBox="1"/>
          <p:nvPr/>
        </p:nvSpPr>
        <p:spPr>
          <a:xfrm>
            <a:off x="723900" y="1694774"/>
            <a:ext cx="1033124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Training Setup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FER2013 (5 emotions – Angry, Happy, Neutral, Sad, Surprise).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Training Data: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1,000 images per emotion to prevent overfitting.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YOLO11n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downloaded from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repository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 with an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learning rate of 0.001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dynamically adjusted.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Duration: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epochs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of 16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convergence.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&amp; Recall: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 classification accuracy.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mAP@50 &amp; mAP@50-95: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 localization accuracy for facial expressions.</a:t>
            </a:r>
          </a:p>
        </p:txBody>
      </p:sp>
    </p:spTree>
    <p:extLst>
      <p:ext uri="{BB962C8B-B14F-4D97-AF65-F5344CB8AC3E}">
        <p14:creationId xmlns:p14="http://schemas.microsoft.com/office/powerpoint/2010/main" val="3067309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4B31-78D7-87B0-7271-CA38F389C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56" y="14501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D4F8E71C-4999-9A1B-D920-F05B2752E901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064" y="1453091"/>
            <a:ext cx="5434880" cy="4259226"/>
          </a:xfrm>
          <a:prstGeom prst="rect">
            <a:avLst/>
          </a:prstGeom>
        </p:spPr>
      </p:pic>
      <p:pic>
        <p:nvPicPr>
          <p:cNvPr id="4" name="table">
            <a:extLst>
              <a:ext uri="{FF2B5EF4-FFF2-40B4-BE49-F238E27FC236}">
                <a16:creationId xmlns:a16="http://schemas.microsoft.com/office/drawing/2014/main" id="{D2BF283E-D2A4-EF83-35D1-24654B498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67" y="3586154"/>
            <a:ext cx="5978905" cy="1754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7398EA-14CA-1B4D-2819-CC6AF55A427C}"/>
              </a:ext>
            </a:extLst>
          </p:cNvPr>
          <p:cNvSpPr txBox="1"/>
          <p:nvPr/>
        </p:nvSpPr>
        <p:spPr>
          <a:xfrm>
            <a:off x="135457" y="1948407"/>
            <a:ext cx="61556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YOLO11n achieved an overall mAP@50 of 0.84 and mAP@50-95 of 0.839, with the highest detection accuracy for Happy and Surprise emotions, while Neutral and Sad showed lower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2565535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28DF6-4722-A197-64B7-80DF9FA5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ble">
            <a:extLst>
              <a:ext uri="{FF2B5EF4-FFF2-40B4-BE49-F238E27FC236}">
                <a16:creationId xmlns:a16="http://schemas.microsoft.com/office/drawing/2014/main" id="{2960F88A-4B89-FD76-8211-EC8A0F733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86" y="3195157"/>
            <a:ext cx="9099628" cy="2344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4E7F5C-A66B-D0FB-101D-96333A3EAC03}"/>
              </a:ext>
            </a:extLst>
          </p:cNvPr>
          <p:cNvSpPr txBox="1"/>
          <p:nvPr/>
        </p:nvSpPr>
        <p:spPr>
          <a:xfrm>
            <a:off x="658368" y="1825034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outperformed previous versions like YOLOv5s, YOLOv7, and YOLOv8n, demonstrating superior precision (0.771) and recall (0.776), setting a new benchmark for facial emotion recognition tasks.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F3AD8C9-55A1-88F6-3C19-559F24200718}"/>
              </a:ext>
            </a:extLst>
          </p:cNvPr>
          <p:cNvSpPr txBox="1">
            <a:spLocks/>
          </p:cNvSpPr>
          <p:nvPr/>
        </p:nvSpPr>
        <p:spPr>
          <a:xfrm>
            <a:off x="530056" y="1450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43573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EBA55-6112-1C0B-446A-ED8CB5589185}"/>
              </a:ext>
            </a:extLst>
          </p:cNvPr>
          <p:cNvSpPr txBox="1"/>
          <p:nvPr/>
        </p:nvSpPr>
        <p:spPr>
          <a:xfrm>
            <a:off x="609599" y="1726138"/>
            <a:ext cx="1097280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YOLO11n shows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precision, recall,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 Recognition (FER)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emotions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Happy &amp; Surprise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struggles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subtle emotions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 &amp; Neutral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robust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healthcare, customer interaction, and video-based emotion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subtle emotion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feature extraction &amp; improved attention mechanisms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training data imbalances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expanding datasets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and demographic diversity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for edge devices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improving performance under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conditions (lighting &amp; occlusions)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161F64C-BA5E-3CFE-93F0-0F9E43EE1738}"/>
              </a:ext>
            </a:extLst>
          </p:cNvPr>
          <p:cNvSpPr txBox="1">
            <a:spLocks/>
          </p:cNvSpPr>
          <p:nvPr/>
        </p:nvSpPr>
        <p:spPr>
          <a:xfrm>
            <a:off x="530056" y="1450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12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874941-D447-478C-DA77-26371456D46C}"/>
              </a:ext>
            </a:extLst>
          </p:cNvPr>
          <p:cNvSpPr txBox="1"/>
          <p:nvPr/>
        </p:nvSpPr>
        <p:spPr>
          <a:xfrm>
            <a:off x="530056" y="1348800"/>
            <a:ext cx="1102796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[1]P. Ekman, "An argument for basic emotions," Cognition and Emotion, vol. 6, no. 3, pp. 169-200, 1992. </a:t>
            </a:r>
          </a:p>
          <a:p>
            <a:r>
              <a:rPr lang="en-IN" sz="1600" dirty="0"/>
              <a:t>[2]S. Li and W. Deng, "Deep facial expression recognition: A survey," IEEE Trans actions on Affective Computing, vol. 13, no. 3, pp. 1197-1215, July-Sept. 2022. </a:t>
            </a:r>
          </a:p>
          <a:p>
            <a:r>
              <a:rPr lang="en-IN" sz="1600" dirty="0"/>
              <a:t>[3]J. Redmon, S. </a:t>
            </a:r>
            <a:r>
              <a:rPr lang="en-IN" sz="1600" dirty="0" err="1"/>
              <a:t>Divvala</a:t>
            </a:r>
            <a:r>
              <a:rPr lang="en-IN" sz="1600" dirty="0"/>
              <a:t>, R. </a:t>
            </a:r>
            <a:r>
              <a:rPr lang="en-IN" sz="1600" dirty="0" err="1"/>
              <a:t>Girshick</a:t>
            </a:r>
            <a:r>
              <a:rPr lang="en-IN" sz="1600" dirty="0"/>
              <a:t>, and A. Farhadi, "You only look once: Unified, real-time object detection," in Proc. IEEE Conf. on Computer Vision and Pattern Recognition (CVPR), 2016, pp. 779-788. </a:t>
            </a:r>
          </a:p>
          <a:p>
            <a:r>
              <a:rPr lang="en-IN" sz="1600" dirty="0"/>
              <a:t>[4]</a:t>
            </a:r>
            <a:r>
              <a:rPr lang="en-IN" sz="1600" dirty="0" err="1"/>
              <a:t>Alshammari</a:t>
            </a:r>
            <a:r>
              <a:rPr lang="en-IN" sz="1600" dirty="0"/>
              <a:t>, A., &amp; </a:t>
            </a:r>
            <a:r>
              <a:rPr lang="en-IN" sz="1600" dirty="0" err="1"/>
              <a:t>Alshammari</a:t>
            </a:r>
            <a:r>
              <a:rPr lang="en-IN" sz="1600" dirty="0"/>
              <a:t>, M. E. (2024). Emotional Facial Expression De </a:t>
            </a:r>
            <a:r>
              <a:rPr lang="en-IN" sz="1600" dirty="0" err="1"/>
              <a:t>tection</a:t>
            </a:r>
            <a:r>
              <a:rPr lang="en-IN" sz="1600" dirty="0"/>
              <a:t> using YOLOv8. Engineering, Technology &amp; Applied Science Research. </a:t>
            </a:r>
          </a:p>
          <a:p>
            <a:r>
              <a:rPr lang="en-IN" sz="1600" dirty="0"/>
              <a:t>[5]Wang, Y. (2024). YOLO-based Face Emotion Recognition System for Teaching Scenes. Transactions on Computer Science and Intelligent Systems Research. </a:t>
            </a:r>
          </a:p>
          <a:p>
            <a:r>
              <a:rPr lang="en-IN" sz="1600" dirty="0"/>
              <a:t>[6]S. Kumar, V. Sagar, and D. </a:t>
            </a:r>
            <a:r>
              <a:rPr lang="en-IN" sz="1600" dirty="0" err="1"/>
              <a:t>Punetha</a:t>
            </a:r>
            <a:r>
              <a:rPr lang="en-IN" sz="1600" dirty="0"/>
              <a:t>, "A comparative study on facial expression recognition using local binary patterns, convolutional neural network and frequency neural network," Multimedia Tools and Applications, vol. 82, no. 16, pp. 24369 24385, 2023. </a:t>
            </a:r>
          </a:p>
          <a:p>
            <a:r>
              <a:rPr lang="en-IN" sz="1600" dirty="0"/>
              <a:t>[7]N. Dalal and B. Triggs, "Histograms of oriented gradients for human detection," in 2005 IEEE Computer Society Conference on Computer Vision and Pattern </a:t>
            </a:r>
            <a:r>
              <a:rPr lang="en-IN" sz="1600" dirty="0" err="1"/>
              <a:t>Recog</a:t>
            </a:r>
            <a:r>
              <a:rPr lang="en-IN" sz="1600" dirty="0"/>
              <a:t> </a:t>
            </a:r>
            <a:r>
              <a:rPr lang="en-IN" sz="1600" dirty="0" err="1"/>
              <a:t>nition</a:t>
            </a:r>
            <a:r>
              <a:rPr lang="en-IN" sz="1600" dirty="0"/>
              <a:t> (CVPR’05), vol. 1, pp. 886-893, Jun. 2005. </a:t>
            </a:r>
          </a:p>
          <a:p>
            <a:r>
              <a:rPr lang="en-IN" sz="1600" dirty="0"/>
              <a:t>[8]M. Hussain and R. Khanam, "In-depth review of yolov1 to yolov10 variants for enhanced photovoltaic defect detection," Solar, vol. 4, no. 3, pp. 351-386, Jun. 2024. </a:t>
            </a:r>
          </a:p>
          <a:p>
            <a:r>
              <a:rPr lang="en-IN" sz="1600" dirty="0"/>
              <a:t>[9]R. Khanam and M. Hussain, "YOLOv11: An overview of the key architectural enhancements," </a:t>
            </a:r>
            <a:r>
              <a:rPr lang="en-IN" sz="1600" dirty="0" err="1"/>
              <a:t>arXiv</a:t>
            </a:r>
            <a:r>
              <a:rPr lang="en-IN" sz="1600" dirty="0"/>
              <a:t> preprint arXiv:2410.17725, 2024. </a:t>
            </a:r>
          </a:p>
          <a:p>
            <a:r>
              <a:rPr lang="en-IN" sz="1600" dirty="0"/>
              <a:t>[10]Z. Niu, G. Zhong, and H. Yu, "A review on the attention mechanism of deep learning," Neurocomputing, vol. 452, pp. 48–62, 2021. </a:t>
            </a:r>
          </a:p>
          <a:p>
            <a:r>
              <a:rPr lang="en-IN" sz="1600" dirty="0"/>
              <a:t>[11]</a:t>
            </a:r>
            <a:r>
              <a:rPr lang="en-IN" sz="1600" dirty="0" err="1"/>
              <a:t>Ultralytics</a:t>
            </a:r>
            <a:r>
              <a:rPr lang="en-IN" sz="1600" dirty="0"/>
              <a:t>, "YOLO11- You Only Look Once," GitHub repository, 2024. [On line]. Available: https://github.com/ultralytics/ultralytics. [Accessed: Dec. 2024].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5B3635-930C-493B-0D54-EF5FA999A081}"/>
              </a:ext>
            </a:extLst>
          </p:cNvPr>
          <p:cNvSpPr txBox="1">
            <a:spLocks/>
          </p:cNvSpPr>
          <p:nvPr/>
        </p:nvSpPr>
        <p:spPr>
          <a:xfrm>
            <a:off x="530056" y="1450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742739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D72D-2590-1B52-1AA3-E59EEBB5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52365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1351</Words>
  <Application>Microsoft Office PowerPoint</Application>
  <PresentationFormat>Widescreen</PresentationFormat>
  <Paragraphs>185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Face Recognition and Expression Analysis using YOLO11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 of YOLO11 Architecture</vt:lpstr>
      <vt:lpstr>Architecture Overview</vt:lpstr>
      <vt:lpstr>Architecture Overview</vt:lpstr>
      <vt:lpstr>Architecture Overview</vt:lpstr>
      <vt:lpstr> Dataset Description</vt:lpstr>
      <vt:lpstr>Training</vt:lpstr>
      <vt:lpstr>Results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Varsha Pattanshetty</dc:creator>
  <cp:lastModifiedBy>Varda Pattanshetty</cp:lastModifiedBy>
  <cp:revision>5</cp:revision>
  <dcterms:created xsi:type="dcterms:W3CDTF">2025-02-12T16:25:04Z</dcterms:created>
  <dcterms:modified xsi:type="dcterms:W3CDTF">2025-02-12T18:44:00Z</dcterms:modified>
</cp:coreProperties>
</file>